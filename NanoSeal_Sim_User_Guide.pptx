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for the NanoSeal Sim walkthrough. Introduce the tool, its purpose, and the Glasgow research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explanation of the tool for someone seeing it for the first time. Three step flow: input, calculate,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map of the four main zones of the app interface: sidebar, compliance banner, metrics row, and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5-step quickstart for a first-time user to run their first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the three physics layers that make up a coating formulation and what each slider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explanation of all seven analysis tabs and their specific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spotlight on the auto-optimiser, showing a concrete example of cost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four main user personas and how each would use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the live URL and contact details for questions or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NanoSeal Sim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the nano-coating performance predictor for semiconductor packaging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University of Glasgow nano-fabrication research  ·  Sahastra Mudra Ltd. (SC848171)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92640" y="1371600"/>
            <a:ext cx="1828800" cy="1828800"/>
          </a:xfrm>
          <a:prstGeom prst="hexagon">
            <a:avLst/>
          </a:prstGeom>
          <a:solidFill>
            <a:srgbClr val="1A237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NanoSeal Sim?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8D5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free, web-based simulation tool that predicts how a nano-coating formulation will perform on semiconductor packaging materials — before you make anything physically.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substrate material, set CNT / nano-clay / SiO₂ loading levels using sliders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25196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equations (percolation theory, Nielsen model, Halpin-Tsai) run instantly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ESD resistance, moisture barrier, hardness &amp; cost — and whether it meets standards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1124712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7091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replaces weeks of trial-and-error physical lab testing with instant, repeatable predictions — saving material cost and development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Layout — Where Everything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E2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00" cy="4846320"/>
          </a:xfrm>
          <a:prstGeom prst="rect">
            <a:avLst/>
          </a:prstGeom>
          <a:solidFill>
            <a:srgbClr val="F7F6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704088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— title &amp; 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2194560" cy="3931920"/>
          </a:xfrm>
          <a:prstGeom prst="rect">
            <a:avLst/>
          </a:prstGeom>
          <a:solidFill>
            <a:srgbClr val="E8EAF6"/>
          </a:solidFill>
          <a:ln w="9525">
            <a:solidFill>
              <a:srgbClr val="1A23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23160"/>
            <a:ext cx="1920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SIDEBAR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 inputs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(CNT, clay, SiO₂)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4709160" cy="9144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22860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COMPLIANCE BANNER — Pass/Fail at a glance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3337560"/>
            <a:ext cx="4709160" cy="914400"/>
          </a:xfrm>
          <a:prstGeom prst="rect">
            <a:avLst/>
          </a:prstGeom>
          <a:solidFill>
            <a:srgbClr val="FFF8E1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3337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METRICS ROW — ESD, MVTR, Hardness, Thermal, 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4389120"/>
            <a:ext cx="4709160" cy="1737360"/>
          </a:xfrm>
          <a:prstGeom prst="rect">
            <a:avLst/>
          </a:prstGeom>
          <a:solidFill>
            <a:srgbClr val="E0F2F1"/>
          </a:solidFill>
          <a:ln w="9525">
            <a:solidFill>
              <a:srgbClr val="004D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63240" y="452628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TABS — 7 analysis views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(graphs, comparisons, optimiser, report)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1600200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92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1892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material, standard, currency &amp; adjust all formulation sliders here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2743200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92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banner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035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shows green (pass) or red (fail) for your chosen standard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3886200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row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178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numbers update live as you move any slider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5029200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924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tabs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5321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tabs — deep-dive graphs, comparisons, and the auto-optimiser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Your First Simulation — 5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8D5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685800" cy="6858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80160" y="1508760"/>
            <a:ext cx="10424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1563624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link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563624"/>
            <a:ext cx="7040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the NanoSeal Sim URL — no login, no install needed. Works on any device.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685800" cy="6858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404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80160" y="2404872"/>
            <a:ext cx="10424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2459736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material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459736"/>
            <a:ext cx="7040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left sidebar, choose a category (ESD Tray, Foam, Barrier Film, etc.) then the exact material.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685800" cy="6858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3009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80160" y="3300984"/>
            <a:ext cx="10424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08760" y="3355848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standard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355848"/>
            <a:ext cx="7040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which compliance standard matters to you — JEDEC, Automotive AEC-Q100, Defence, etc.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97096"/>
            <a:ext cx="685800" cy="6858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1970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80160" y="4197096"/>
            <a:ext cx="10424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08760" y="4251960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sliders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251960"/>
            <a:ext cx="7040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CNT %, nano-clay %, SiO₂ % and coating thickness — everything recalculates instantly.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093208"/>
            <a:ext cx="685800" cy="6858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50932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280160" y="5093208"/>
            <a:ext cx="10424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08760" y="5148072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&amp; download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5148072"/>
            <a:ext cx="7040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banner = compliant. Download the formulation report as evidence for a customer or supplier.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Layer Controls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2A38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566160" cy="44805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 — ESD Coating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310896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adjust: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MWCNT concentration &amp; thickness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predicts: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ESD Surface Resistance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92040"/>
            <a:ext cx="3108960" cy="82296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956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93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10⁴–10¹¹ Ω/sq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1508760"/>
            <a:ext cx="3566160" cy="4480560"/>
          </a:xfrm>
          <a:prstGeom prst="rect">
            <a:avLst/>
          </a:prstGeom>
          <a:solidFill>
            <a:srgbClr val="004D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05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Nano-Clay — Moisture Barrier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2880360"/>
            <a:ext cx="310896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adjust: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 loading &amp; platelet aspect ratio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predicts: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MVTR (moisture transmission)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4892040"/>
            <a:ext cx="3108960" cy="82296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956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193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&lt;0.005 g/m²/day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1508760"/>
            <a:ext cx="3566160" cy="44805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7532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SiO₂ — Scratch Resistance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275320" y="2880360"/>
            <a:ext cx="310896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7532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adjust: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SiO₂ loading &amp; particle size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predicts: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 hardness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75320" y="4892040"/>
            <a:ext cx="3108960" cy="82296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0" y="4956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5193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≥3H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TABS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Tabs — What Each One Is For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E2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72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ESD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surface resistance changes as CNT % increases — find the percolation cliff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572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MVTR Analysis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moisture barrier improves with clay loading and platelet aspect ratio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72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max operating temperature across all materials — critical for automotive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Compare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16 materials plotted together — pick the best one for your application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0632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3484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Compare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657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current formulation against all 6 global standards at once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30632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Auto-Optimiser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657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— finds the cheapest formulation that still passes compliance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3749040" cy="146304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773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4800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 shareable formulation report — for customers, suppliers, or records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Auto-Optimiser — Save Money Automatically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8D5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useful feature for cutting material costs without sacrificing compliance.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97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material &amp; compliance standard as usual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320040" cy="3200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"Auto-Optimiser" tab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320040" cy="3200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"Run Optimiser"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526280"/>
            <a:ext cx="320040" cy="3200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tests 2,400 formulation combinations in seconds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120640"/>
            <a:ext cx="320040" cy="3200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074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CHEAPEST combination that still passes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057400"/>
            <a:ext cx="5669280" cy="3931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result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2834640"/>
            <a:ext cx="51206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28803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CNT loading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28803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 wt%  (vs 0.50 wt% current)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520440"/>
            <a:ext cx="51206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3566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clay loading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3566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 wt%  (vs 3.0 wt% current)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206240"/>
            <a:ext cx="51206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4251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cost/m²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£0.19  (vs £0.31 current)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4892040"/>
            <a:ext cx="51206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49377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49377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40% cheaper, still compliant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5532120"/>
            <a:ext cx="5120640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0936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money saved before a single tray is made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Use NanoSeal Sim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E2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1247120" cy="96012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91640"/>
            <a:ext cx="2468880" cy="5943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Engineer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645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material &amp; formulation for a new product without physical trial-and-error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834640"/>
            <a:ext cx="2468880" cy="5943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/ Buyer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788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 supplier's claimed spec is physically plausible before signing a purchase order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960120"/>
          </a:xfrm>
          <a:prstGeom prst="rect">
            <a:avLst/>
          </a:prstGeom>
          <a:solidFill>
            <a:srgbClr val="F7F6F2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977640"/>
            <a:ext cx="2468880" cy="5943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/ Compliance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931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formulation against multiple international standards simultaneously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5120640"/>
            <a:ext cx="2468880" cy="5943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5120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/ Production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5074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auto-optimiser to reduce raw material cost while staying compliant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it now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login · Works on any device · Updated continuously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86868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17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nanoseal-sim-55fwy2aedzb4zpdpkpfk8t.streamlit.app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or feedback: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Prithviraj Hiralal Chowdhary  ·  Sahastra Mudra Ltd. (SC848171)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Nanoscience &amp; Nanotechnology, University of Glasgow (2025)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2026-09-17T11:21:39Z</dcterms:created>
  <dcterms:modified xsi:type="dcterms:W3CDTF">2026-09-17T11:21:39Z</dcterms:modified>
</cp:coreProperties>
</file>